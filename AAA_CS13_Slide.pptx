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4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SổSạch · Lộ trình 12 tháng cho ban lãnh đạo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77295" cy="1600200"/>
          </a:xfrm>
          <a:prstGeom prst="rect">
            <a:avLst/>
          </a:prstGeom>
          <a:solidFill>
            <a:srgbClr val="E3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128016" bIns="128016"/>
          <a:lstStyle/>
          <a:p>
            <a:pPr algn="l"/>
            <a:r>
              <a:rPr sz="1400" b="1">
                <a:solidFill>
                  <a:srgbClr val="1F6FEB"/>
                </a:solidFill>
                <a:latin typeface="Calibri"/>
              </a:rPr>
              <a:t>KẾT LUẬN</a:t>
            </a:r>
          </a:p>
          <a:p>
            <a:pPr algn="l">
              <a:spcBef>
                <a:spcPts val="400"/>
              </a:spcBef>
            </a:pPr>
            <a:r>
              <a:rPr sz="2000">
                <a:solidFill>
                  <a:srgbClr val="222B38"/>
                </a:solidFill>
                <a:latin typeface="Calibri"/>
              </a:rPr>
              <a:t>Làm trước gắn cờ hoá đơn, đối chiếu mã số thuế và đọc ảnh ở Mức 0→1, vì bản 2 đã qua cổng (97,3%). Chỉ lên Mức 1 khi lỗi mã số thuế/tiền bỏ lọt bằng 0 trên ≥ 2.000 hoá đơn thật; quyết định mở rộng ở ngày 90.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697480"/>
            <a:ext cx="5559552" cy="169164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28016" bIns="128016"/>
          <a:lstStyle/>
          <a:p>
            <a:pPr algn="l"/>
            <a:r>
              <a:rPr sz="1300" b="1">
                <a:solidFill>
                  <a:srgbClr val="142B4D"/>
                </a:solidFill>
                <a:latin typeface="Calibri"/>
              </a:rPr>
              <a:t>3 VIỆC CHÍNH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222B38"/>
                </a:solidFill>
                <a:latin typeface="Calibri"/>
              </a:rPr>
              <a:t>Bây giờ: gắn cờ + đối chiếu mã số thuế + đọc ảnh hoá đơn · Tiếp theo: nhập hoá đơn điện tử bằng phần mềm kế toán có sẵn, lên Mức 2 · Sau này: gợi ý tài khoản hạch toán khi có dữ liệu, thử Mức 3</a:t>
            </a:r>
          </a:p>
        </p:txBody>
      </p:sp>
      <p:sp>
        <p:nvSpPr>
          <p:cNvPr id="5" name="Rectangle 4"/>
          <p:cNvSpPr/>
          <p:nvPr/>
        </p:nvSpPr>
        <p:spPr>
          <a:xfrm>
            <a:off x="6172200" y="2697480"/>
            <a:ext cx="5559552" cy="169164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28016" bIns="128016"/>
          <a:lstStyle/>
          <a:p>
            <a:pPr algn="l"/>
            <a:r>
              <a:rPr sz="1300" b="1">
                <a:solidFill>
                  <a:srgbClr val="142B4D"/>
                </a:solidFill>
                <a:latin typeface="Calibri"/>
              </a:rPr>
              <a:t>CẦN GÌ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222B38"/>
                </a:solidFill>
                <a:latin typeface="Calibri"/>
              </a:rPr>
              <a:t>Người: chị Hạnh 3 giờ thứ Bảy mỗi tuần và anh Tùng chấm bộ đề 120 ca (≈ 17 giờ thêm); kế toán viên duyệt. Tiền: kịch bản xấu hết tiền tháng 7. Dữ liệu: ≥ 10 văn phòng thử, tra cứu mã số thuế, tích hợp phần mềm kế toán.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544568"/>
            <a:ext cx="5559552" cy="169164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28016" bIns="128016"/>
          <a:lstStyle/>
          <a:p>
            <a:pPr algn="l"/>
            <a:r>
              <a:rPr sz="1300" b="1">
                <a:solidFill>
                  <a:srgbClr val="B42B2B"/>
                </a:solidFill>
                <a:latin typeface="Calibri"/>
              </a:rPr>
              <a:t>RỦI RO LỚN NHẤT &amp; CÁCH XỬ LÝ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222B38"/>
                </a:solidFill>
                <a:latin typeface="Calibri"/>
              </a:rPr>
              <a:t>Doanh thu dồn vào 30% văn phòng dùng nhiều (65% doanh thu) → đo từ tháng 3; dưới 3,71 triệu/văn phòng 2 tháng liên tiếp trên ≥ 10 văn phòng thì dừng mở rộng. Có 1 lỗi mã số thuế/tiền bỏ lọt → lùi về Mức 0.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4544568"/>
            <a:ext cx="5559552" cy="1691640"/>
          </a:xfrm>
          <a:prstGeom prst="rect">
            <a:avLst/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28016" bIns="128016"/>
          <a:lstStyle/>
          <a:p>
            <a:pPr algn="l"/>
            <a:r>
              <a:rPr sz="1300" b="1">
                <a:solidFill>
                  <a:srgbClr val="142B4D"/>
                </a:solidFill>
                <a:latin typeface="Calibri"/>
              </a:rPr>
              <a:t>KHI NÀO XEM LẠI</a:t>
            </a:r>
          </a:p>
          <a:p>
            <a:pPr algn="l">
              <a:spcBef>
                <a:spcPts val="400"/>
              </a:spcBef>
            </a:pPr>
            <a:r>
              <a:rPr sz="1500">
                <a:solidFill>
                  <a:srgbClr val="222B38"/>
                </a:solidFill>
                <a:latin typeface="Calibri"/>
              </a:rPr>
              <a:t>Ngày 30/60/90, và khi có mô hình mới hoặc giá gọi AI giảm, phần mềm kế toán ra tính năng đọc ảnh, hoặc quy định pháp lý đổi. Cổng Mức 1 xét ở ngày 60; doanh thu bình quân xét ở ngày 90.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B6675"/>
                </a:solidFill>
                <a:latin typeface="Calibri"/>
              </a:rPr>
              <a:t>Biên lợi nhuận gộp theo mức: Mức 0 24,5% · Mức 1 68,8% · Mức 2 74,3% · Mức 3 77,1%. Số liệu: AAA_CS13.xlsx (hồ sơ SổSạch, số liệu giả định).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